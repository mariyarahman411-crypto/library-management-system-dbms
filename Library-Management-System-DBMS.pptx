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7365" cy="9143365"/>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Droid Sans" charset="0"/>
        <a:cs typeface="Droid Sans" charset="0"/>
      </a:defRPr>
    </a:lvl1pPr>
    <a:lvl2pPr marL="457200" indent="0" algn="l" defTabSz="914400" eaLnBrk="1" fontAlgn="auto" latinLnBrk="0" hangingPunct="1">
      <a:buNone/>
      <a:defRPr sz="1800" kern="1200">
        <a:solidFill>
          <a:schemeClr val="tx1"/>
        </a:solidFill>
        <a:latin typeface="Droid Sans" charset="0"/>
        <a:ea typeface="Droid Sans" charset="0"/>
        <a:cs typeface="Droid Sans" charset="0"/>
      </a:defRPr>
    </a:lvl2pPr>
    <a:lvl3pPr marL="914400" indent="0" algn="l" defTabSz="914400" eaLnBrk="1" fontAlgn="auto" latinLnBrk="0" hangingPunct="1">
      <a:buNone/>
      <a:defRPr sz="1800" kern="1200">
        <a:solidFill>
          <a:schemeClr val="tx1"/>
        </a:solidFill>
        <a:latin typeface="Droid Sans" charset="0"/>
        <a:ea typeface="Droid Sans" charset="0"/>
        <a:cs typeface="Droid Sans" charset="0"/>
      </a:defRPr>
    </a:lvl3pPr>
    <a:lvl4pPr marL="1371600" indent="0" algn="l" defTabSz="914400" eaLnBrk="1" fontAlgn="auto" latinLnBrk="0" hangingPunct="1">
      <a:buNone/>
      <a:defRPr sz="1800" kern="1200">
        <a:solidFill>
          <a:schemeClr val="tx1"/>
        </a:solidFill>
        <a:latin typeface="Droid Sans" charset="0"/>
        <a:ea typeface="Droid Sans" charset="0"/>
        <a:cs typeface="Droid Sans" charset="0"/>
      </a:defRPr>
    </a:lvl4pPr>
    <a:lvl5pPr marL="1828800" indent="0" algn="l" defTabSz="914400" eaLnBrk="1" fontAlgn="auto" latinLnBrk="0" hangingPunct="1">
      <a:buNone/>
      <a:defRPr sz="1800" kern="1200">
        <a:solidFill>
          <a:schemeClr val="tx1"/>
        </a:solidFill>
        <a:latin typeface="Droid Sans" charset="0"/>
        <a:ea typeface="Droid Sans" charset="0"/>
        <a:cs typeface="Droid Sans" charset="0"/>
      </a:defRPr>
    </a:lvl5pPr>
    <a:lvl6pPr marL="2286000" indent="0" algn="l" defTabSz="914400" eaLnBrk="1" fontAlgn="auto" latinLnBrk="0" hangingPunct="1">
      <a:buNone/>
      <a:defRPr sz="1800" kern="1200">
        <a:solidFill>
          <a:schemeClr val="tx1"/>
        </a:solidFill>
        <a:latin typeface="Droid Sans" charset="0"/>
        <a:ea typeface="Droid Sans" charset="0"/>
        <a:cs typeface="Droid Sans" charset="0"/>
      </a:defRPr>
    </a:lvl6pPr>
    <a:lvl7pPr marL="2743200" indent="0" algn="l" defTabSz="914400" eaLnBrk="1" fontAlgn="auto" latinLnBrk="0" hangingPunct="1">
      <a:buNone/>
      <a:defRPr sz="1800" kern="1200">
        <a:solidFill>
          <a:schemeClr val="tx1"/>
        </a:solidFill>
        <a:latin typeface="Droid Sans" charset="0"/>
        <a:ea typeface="Droid Sans" charset="0"/>
        <a:cs typeface="Droid Sans" charset="0"/>
      </a:defRPr>
    </a:lvl7pPr>
    <a:lvl8pPr marL="3200400" indent="0" algn="l" defTabSz="914400" eaLnBrk="1" fontAlgn="auto" latinLnBrk="0" hangingPunct="1">
      <a:buNone/>
      <a:defRPr sz="1800" kern="1200">
        <a:solidFill>
          <a:schemeClr val="tx1"/>
        </a:solidFill>
        <a:latin typeface="Droid Sans" charset="0"/>
        <a:ea typeface="Droid Sans" charset="0"/>
        <a:cs typeface="Droid Sans" charset="0"/>
      </a:defRPr>
    </a:lvl8pPr>
    <a:lvl9pPr marL="3200400" indent="0" algn="l" defTabSz="914400" eaLnBrk="1" fontAlgn="auto" latinLnBrk="0" hangingPunct="1">
      <a:buNone/>
      <a:defRPr sz="1800" kern="1200">
        <a:solidFill>
          <a:schemeClr val="tx1"/>
        </a:solidFill>
        <a:latin typeface="Droid Sans" charset="0"/>
        <a:ea typeface="Droid Sans" charset="0"/>
        <a:cs typeface="Droid Sans"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8" autoAdjust="0"/>
    <p:restoredTop sz="94660" autoAdjust="0"/>
  </p:normalViewPr>
  <p:slideViewPr>
    <p:cSldViewPr snapToGrid="0">
      <p:cViewPr>
        <p:scale>
          <a:sx n="90" d="100"/>
          <a:sy n="90" d="100"/>
        </p:scale>
        <p:origin x="0" y="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
        <p:nvSpPr>
          <p:cNvPr id="7" name="Text box"/>
          <p:cNvSpPr>
            <a:spLocks noGrp="1"/>
          </p:cNvSpPr>
          <p:nvPr>
            <p:ph type="hdr"/>
          </p:nvPr>
        </p:nvSpPr>
        <p:spPr>
          <a:xfrm>
            <a:off x="0" y="0"/>
            <a:ext cx="2971799" cy="458787"/>
          </a:xfrm>
          <a:prstGeom prst="rect">
            <a:avLst/>
          </a:prstGeom>
          <a:noFill/>
          <a:ln w="12700" cap="flat" cmpd="sng">
            <a:noFill/>
            <a:prstDash val="solid"/>
            <a:miter/>
          </a:ln>
        </p:spPr>
        <p:txBody>
          <a:bodyPr vert="horz" wrap="square" lIns="91440" tIns="45720" rIns="91440" bIns="45720" anchor="t" anchorCtr="0"/>
          <a:lstStyle/>
          <a:p>
            <a:pPr algn="l"/>
            <a:endParaRPr lang="zh-CN" altLang="en-US" sz="1200">
              <a:latin typeface="Calibri" panose="020F0502020204030204" charset="0"/>
              <a:ea typeface="SimSun" panose="02010600030101010101" pitchFamily="2" charset="-122"/>
              <a:cs typeface="Calibri" panose="020F0502020204030204" charset="0"/>
            </a:endParaRPr>
          </a:p>
        </p:txBody>
      </p:sp>
      <p:sp>
        <p:nvSpPr>
          <p:cNvPr id="8"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lstStyle/>
          <a:p>
            <a:pPr algn="r"/>
            <a:fld id="{CAD2D6BD-DE1B-4B5F-8B41-2702339687B9}" type="datetime1">
              <a:rPr lang="en-US" altLang="zh-CN" sz="1200">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
        <p:nvSpPr>
          <p:cNvPr id="9" name="Object"/>
          <p:cNvSpPr>
            <a:spLocks noGrp="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10" name="Text box"/>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11" name="Text box"/>
          <p:cNvSpPr>
            <a:spLocks noGrp="1"/>
          </p:cNvSpPr>
          <p:nvPr>
            <p:ph type="ftr" idx="4"/>
          </p:nvPr>
        </p:nvSpPr>
        <p:spPr>
          <a:xfrm>
            <a:off x="0" y="8685213"/>
            <a:ext cx="2971799" cy="458787"/>
          </a:xfrm>
          <a:prstGeom prst="rect">
            <a:avLst/>
          </a:prstGeom>
          <a:noFill/>
          <a:ln w="12700" cap="flat" cmpd="sng">
            <a:noFill/>
            <a:prstDash val="solid"/>
            <a:miter/>
          </a:ln>
        </p:spPr>
        <p:txBody>
          <a:bodyPr vert="horz" wrap="square" lIns="91440" tIns="45720" rIns="91440" bIns="45720" anchor="b" anchorCtr="0"/>
          <a:lstStyle/>
          <a:p>
            <a:pPr algn="l"/>
            <a:endParaRPr lang="zh-CN" altLang="en-US" sz="1200">
              <a:latin typeface="Calibri" panose="020F0502020204030204" charset="0"/>
              <a:ea typeface="SimSun" panose="02010600030101010101" pitchFamily="2" charset="-122"/>
              <a:cs typeface="Calibri" panose="020F0502020204030204" charset="0"/>
            </a:endParaRPr>
          </a:p>
        </p:txBody>
      </p:sp>
    </p:spTree>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
        <p:nvSpPr>
          <p:cNvPr id="50" name="Object"/>
          <p:cNvSpPr>
            <a:spLocks noGrp="1" noChangeAspect="1"/>
          </p:cNvSpPr>
          <p:nvPr>
            <p:ph type="sldImg"/>
          </p:nvPr>
        </p:nvSpPr>
        <p:spPr>
          <a:xfrm>
            <a:off x="685800" y="1143000"/>
            <a:ext cx="5486400" cy="3086100"/>
          </a:xfrm>
          <a:prstGeom prst="rect">
            <a:avLst/>
          </a:prstGeom>
          <a:noFill/>
          <a:ln w="12700" cap="flat" cmpd="sng">
            <a:noFill/>
            <a:prstDash val="solid"/>
            <a:miter/>
          </a:ln>
        </p:spPr>
      </p:sp>
      <p:sp>
        <p:nvSpPr>
          <p:cNvPr id="51"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lstStyle/>
          <a:p>
            <a:endParaRPr lang="zh-CN" altLang="en-US"/>
          </a:p>
        </p:txBody>
      </p:sp>
      <p:sp>
        <p:nvSpPr>
          <p:cNvPr id="52"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a:rPr>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p:cNvSpPr>
          <p:nvPr>
            <p:ph type="sldImg"/>
          </p:nvPr>
        </p:nvSpPr>
        <p:spPr/>
      </p:sp>
      <p:sp>
        <p:nvSpPr>
          <p:cNvPr id="3" name="Text box"/>
          <p:cNvSpPr>
            <a:spLocks noGrp="1"/>
          </p:cNvSpPr>
          <p:nvPr>
            <p:ph type="body" idx="1"/>
          </p:nvPr>
        </p:nvSpPr>
        <p:spPr/>
        <p:txBody>
          <a:bodyPr/>
          <a:lstStyle/>
          <a:p>
            <a:endParaRPr lang="zh-CN" altLang="en-US"/>
          </a:p>
        </p:txBody>
      </p:sp>
      <p:sp>
        <p:nvSpPr>
          <p:cNvPr id="12"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fld>
            <a:endParaRPr lang="zh-CN" altLang="en-US" sz="12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smtClean="0"/>
              <a:t>单击此处编辑母版标题样式</a:t>
            </a:r>
            <a:endParaRPr lang="zh-CN" altLang="en-US"/>
          </a:p>
        </p:txBody>
      </p:sp>
      <p:sp>
        <p:nvSpPr>
          <p:cNvPr id="3" name="Text box"/>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Text box"/>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13" name="Text box"/>
          <p:cNvSpPr>
            <a:spLocks noGrp="1"/>
          </p:cNvSpPr>
          <p:nvPr>
            <p:ph type="dt" idx="10"/>
          </p:nvPr>
        </p:nvSpPr>
        <p:spPr>
          <a:xfrm>
            <a:off x="838200" y="6356349"/>
            <a:ext cx="2743200" cy="365125"/>
          </a:xfrm>
          <a:prstGeom prst="rect">
            <a:avLst/>
          </a:prstGeom>
          <a:noFill/>
          <a:ln cap="flat" cmpd="sng">
            <a:noFill/>
            <a:prstDash val="solid"/>
            <a:miter/>
          </a:ln>
        </p:spPr>
        <p:txBody>
          <a:bodyPr vert="horz" wrap="square" lIns="91440" tIns="45720" rIns="91440" bIns="45720" anchor="ctr" anchorCtr="0"/>
          <a:lstStyle/>
          <a:p>
            <a:pPr algn="l"/>
            <a:r>
              <a:rPr lang="en-US" altLang="zh-CN" sz="1200">
                <a:solidFill>
                  <a:srgbClr val="898989"/>
                </a:solidFill>
                <a:latin typeface="Calibri" panose="020F0502020204030204" charset="0"/>
                <a:ea typeface="SimSun" panose="02010600030101010101" pitchFamily="2" charset="-122"/>
                <a:cs typeface="Calibri" panose="020F0502020204030204" charset="0"/>
              </a:rPr>
              <a:t>Date/Time</a:t>
            </a: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14" name="Text box"/>
          <p:cNvSpPr>
            <a:spLocks noGrp="1"/>
          </p:cNvSpPr>
          <p:nvPr>
            <p:ph type="ftr" idx="11"/>
          </p:nvPr>
        </p:nvSpPr>
        <p:spPr>
          <a:xfrm>
            <a:off x="4038600" y="6356349"/>
            <a:ext cx="4114800" cy="365125"/>
          </a:xfrm>
          <a:prstGeom prst="rect">
            <a:avLst/>
          </a:prstGeom>
          <a:noFill/>
          <a:ln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15" name="Text box"/>
          <p:cNvSpPr>
            <a:spLocks noGrp="1"/>
          </p:cNvSpPr>
          <p:nvPr>
            <p:ph type="sldNum" idx="12"/>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Tree>
  </p:cSld>
  <p:clrMapOvr>
    <a:masterClrMapping/>
  </p:clrMapOvr>
  <p:hf sldNum="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title"/>
          </p:nvPr>
        </p:nvSpPr>
        <p:spPr>
          <a:xfrm>
            <a:off x="838200" y="365124"/>
            <a:ext cx="10515600" cy="1325562"/>
          </a:xfrm>
          <a:prstGeom prst="rect">
            <a:avLst/>
          </a:prstGeom>
          <a:noFill/>
          <a:ln w="12700" cap="flat" cmpd="sng">
            <a:noFill/>
            <a:prstDash val="solid"/>
            <a:miter/>
          </a:ln>
        </p:spPr>
        <p:txBody>
          <a:bodyPr vert="horz" wrap="square" lIns="91440" tIns="45720" rIns="91440" bIns="45720" anchor="ctr" anchorCtr="0"/>
          <a:lstStyle/>
          <a:p>
            <a:r>
              <a:rPr lang="en-US" altLang="zh-CN"/>
              <a:t>Click to edit Master title style</a:t>
            </a:r>
            <a:endParaRPr lang="zh-CN" altLang="en-US"/>
          </a:p>
        </p:txBody>
      </p:sp>
      <p:sp>
        <p:nvSpPr>
          <p:cNvPr id="3" name="Text box"/>
          <p:cNvSpPr>
            <a:spLocks noGrp="1"/>
          </p:cNvSpPr>
          <p:nvPr>
            <p:ph type="body" idx="1"/>
          </p:nvPr>
        </p:nvSpPr>
        <p:spPr>
          <a:xfrm>
            <a:off x="838200" y="1825625"/>
            <a:ext cx="10515600" cy="4351338"/>
          </a:xfrm>
          <a:prstGeom prst="rect">
            <a:avLst/>
          </a:prstGeom>
          <a:noFill/>
          <a:ln w="12700" cap="flat" cmpd="sng">
            <a:noFill/>
            <a:prstDash val="solid"/>
            <a:miter/>
          </a:ln>
        </p:spPr>
        <p:txBody>
          <a:bodyPr vert="horz" wrap="square" lIns="91440" tIns="45720" rIns="91440" bIns="45720" anchor="t" anchorCtr="0"/>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box"/>
          <p:cNvSpPr>
            <a:spLocks noGrp="1"/>
          </p:cNvSpPr>
          <p:nvPr>
            <p:ph type="dt" idx="2"/>
          </p:nvPr>
        </p:nvSpPr>
        <p:spPr>
          <a:xfrm>
            <a:off x="838200" y="6356349"/>
            <a:ext cx="2743200" cy="365125"/>
          </a:xfrm>
          <a:prstGeom prst="rect">
            <a:avLst/>
          </a:prstGeom>
          <a:noFill/>
          <a:ln w="12700" cap="flat" cmpd="sng">
            <a:noFill/>
            <a:prstDash val="solid"/>
            <a:miter/>
          </a:ln>
        </p:spPr>
        <p:txBody>
          <a:bodyPr vert="horz" wrap="square" lIns="91440" tIns="45720" rIns="91440" bIns="45720" anchor="ctr" anchorCtr="0"/>
          <a:lstStyle/>
          <a:p>
            <a:pPr algn="l"/>
            <a:fld id="{CAD2D6BD-DE1B-4B5F-8B41-2702339687B9}" type="datetime1">
              <a:rPr lang="en-US" altLang="zh-CN" sz="120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5" name="Text box"/>
          <p:cNvSpPr>
            <a:spLocks noGrp="1"/>
          </p:cNvSpPr>
          <p:nvPr>
            <p:ph type="ftr" idx="3"/>
          </p:nvPr>
        </p:nvSpPr>
        <p:spPr>
          <a:xfrm>
            <a:off x="4038600" y="6356349"/>
            <a:ext cx="4114800" cy="365125"/>
          </a:xfrm>
          <a:prstGeom prst="rect">
            <a:avLst/>
          </a:prstGeom>
          <a:noFill/>
          <a:ln w="12700"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
        <p:nvSpPr>
          <p:cNvPr id="6" name="Text box"/>
          <p:cNvSpPr>
            <a:spLocks noGrp="1"/>
          </p:cNvSpPr>
          <p:nvPr>
            <p:ph type="sldNum" idx="4"/>
          </p:nvPr>
        </p:nvSpPr>
        <p:spPr>
          <a:xfrm>
            <a:off x="8610600" y="6356349"/>
            <a:ext cx="2743200" cy="365125"/>
          </a:xfrm>
          <a:prstGeom prst="rect">
            <a:avLst/>
          </a:prstGeom>
          <a:noFill/>
          <a:ln w="12700"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charset="0"/>
                <a:ea typeface="SimSun" panose="02010600030101010101" pitchFamily="2" charset="-122"/>
                <a:cs typeface="Calibri" panose="020F0502020204030204" charset="0"/>
              </a:rPr>
            </a:fld>
            <a:endParaRPr lang="zh-CN" altLang="en-US" sz="1200">
              <a:solidFill>
                <a:srgbClr val="898989"/>
              </a:solidFill>
              <a:latin typeface="Calibri" panose="020F0502020204030204" charset="0"/>
              <a:ea typeface="SimSun" panose="02010600030101010101" pitchFamily="2" charset="-122"/>
              <a:cs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eaLnBrk="1" fontAlgn="auto" latinLnBrk="0" hangingPunct="1">
        <a:lnSpc>
          <a:spcPct val="90000"/>
        </a:lnSpc>
        <a:spcBef>
          <a:spcPts val="0"/>
        </a:spcBef>
        <a:buNone/>
        <a:defRPr sz="4400" kern="1200">
          <a:solidFill>
            <a:schemeClr val="tx1"/>
          </a:solidFill>
          <a:latin typeface="Calibri Light" panose="020F0302020204030204" charset="0"/>
          <a:ea typeface="SimSun" panose="02010600030101010101" pitchFamily="2" charset="-122"/>
          <a:cs typeface="Calibri Light" panose="020F0302020204030204" charset="0"/>
        </a:defRPr>
      </a:lvl1pPr>
    </p:titleStyle>
    <p:bodyStyle>
      <a:lvl1pPr marL="228600" indent="-228600" algn="l" defTabSz="914400" eaLnBrk="1" fontAlgn="auto"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charset="0"/>
          <a:ea typeface="SimSun" panose="02010600030101010101" pitchFamily="2" charset="-122"/>
          <a:cs typeface="Calibri" panose="020F0502020204030204" charset="0"/>
        </a:defRPr>
      </a:lvl1pPr>
      <a:lvl2pPr marL="685800" indent="-228600" algn="l" defTabSz="914400" eaLnBrk="1" fontAlgn="auto"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charset="0"/>
          <a:ea typeface="SimSun" panose="02010600030101010101" pitchFamily="2" charset="-122"/>
          <a:cs typeface="Calibri" panose="020F0502020204030204" charset="0"/>
        </a:defRPr>
      </a:lvl2pPr>
      <a:lvl3pPr marL="1143000" indent="-228600" algn="l" defTabSz="914400" eaLnBrk="1" fontAlgn="auto"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charset="0"/>
          <a:ea typeface="SimSun" panose="02010600030101010101" pitchFamily="2" charset="-122"/>
          <a:cs typeface="Calibri" panose="020F0502020204030204" charset="0"/>
        </a:defRPr>
      </a:lvl3pPr>
      <a:lvl4pPr marL="16002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4pPr>
      <a:lvl5pPr marL="20574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5pPr>
      <a:lvl6pPr marL="25146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6pPr>
      <a:lvl7pPr marL="29718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7pPr>
      <a:lvl8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8pPr>
      <a:lvl9pPr marL="3429000" indent="-228600" algn="l" defTabSz="914400" eaLnBrk="1" fontAlgn="auto"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Calibri" panose="020F0502020204030204" charset="0"/>
        </a:defRPr>
      </a:lvl9pPr>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8.jpe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1.jpeg"/><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13.jpeg"/><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15.jpe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17.jpeg"/><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曲线"/>
          <p:cNvSpPr/>
          <p:nvPr/>
        </p:nvSpPr>
        <p:spPr>
          <a:xfrm>
            <a:off x="10756143" y="2218636"/>
            <a:ext cx="1435856" cy="1693795"/>
          </a:xfrm>
          <a:custGeom>
            <a:avLst/>
            <a:gdLst>
              <a:gd name="T1" fmla="*/ 0 w 21600"/>
              <a:gd name="T2" fmla="*/ 0 h 21600"/>
              <a:gd name="T3" fmla="*/ 21600 w 21600"/>
              <a:gd name="T4" fmla="*/ 21600 h 21600"/>
            </a:gdLst>
            <a:ahLst/>
            <a:cxnLst/>
            <a:rect l="T1" t="T2" r="T3" b="T4"/>
            <a:pathLst>
              <a:path w="21600" h="21600">
                <a:moveTo>
                  <a:pt x="0" y="10799"/>
                </a:moveTo>
                <a:lnTo>
                  <a:pt x="0" y="10800"/>
                </a:lnTo>
                <a:lnTo>
                  <a:pt x="0" y="10800"/>
                </a:lnTo>
              </a:path>
              <a:path w="21600" h="21600">
                <a:moveTo>
                  <a:pt x="12740" y="0"/>
                </a:moveTo>
                <a:lnTo>
                  <a:pt x="21600" y="0"/>
                </a:lnTo>
                <a:lnTo>
                  <a:pt x="21600" y="21600"/>
                </a:lnTo>
                <a:lnTo>
                  <a:pt x="12740" y="21599"/>
                </a:lnTo>
                <a:cubicBezTo>
                  <a:pt x="6143" y="21599"/>
                  <a:pt x="718" y="17350"/>
                  <a:pt x="65" y="11904"/>
                </a:cubicBezTo>
                <a:lnTo>
                  <a:pt x="0" y="10800"/>
                </a:lnTo>
                <a:lnTo>
                  <a:pt x="65" y="9695"/>
                </a:lnTo>
                <a:cubicBezTo>
                  <a:pt x="718" y="4249"/>
                  <a:pt x="6143" y="0"/>
                  <a:pt x="12740" y="0"/>
                </a:cubicBezTo>
                <a:close/>
              </a:path>
            </a:pathLst>
          </a:custGeom>
          <a:solidFill>
            <a:srgbClr val="002060"/>
          </a:solidFill>
          <a:ln w="12700" cap="flat" cmpd="sng">
            <a:solidFill>
              <a:srgbClr val="41719C"/>
            </a:solidFill>
            <a:prstDash val="solid"/>
            <a:miter/>
          </a:ln>
        </p:spPr>
      </p:sp>
      <p:sp>
        <p:nvSpPr>
          <p:cNvPr id="17" name="曲线"/>
          <p:cNvSpPr/>
          <p:nvPr/>
        </p:nvSpPr>
        <p:spPr>
          <a:xfrm>
            <a:off x="0" y="2218636"/>
            <a:ext cx="1489924" cy="1693795"/>
          </a:xfrm>
          <a:custGeom>
            <a:avLst/>
            <a:gdLst>
              <a:gd name="T1" fmla="*/ 0 w 21600"/>
              <a:gd name="T2" fmla="*/ 0 h 21600"/>
              <a:gd name="T3" fmla="*/ 21600 w 21600"/>
              <a:gd name="T4" fmla="*/ 21600 h 21600"/>
            </a:gdLst>
            <a:ahLst/>
            <a:cxnLst/>
            <a:rect l="T1" t="T2" r="T3" b="T4"/>
            <a:pathLst>
              <a:path w="21600" h="21600">
                <a:moveTo>
                  <a:pt x="0" y="0"/>
                </a:moveTo>
                <a:lnTo>
                  <a:pt x="9322" y="0"/>
                </a:lnTo>
                <a:cubicBezTo>
                  <a:pt x="16103" y="0"/>
                  <a:pt x="21600" y="4835"/>
                  <a:pt x="21600" y="10800"/>
                </a:cubicBezTo>
                <a:lnTo>
                  <a:pt x="21599" y="10800"/>
                </a:lnTo>
                <a:cubicBezTo>
                  <a:pt x="21599" y="16764"/>
                  <a:pt x="16103" y="21600"/>
                  <a:pt x="9322" y="21600"/>
                </a:cubicBezTo>
                <a:lnTo>
                  <a:pt x="0" y="21600"/>
                </a:lnTo>
                <a:close/>
              </a:path>
            </a:pathLst>
          </a:custGeom>
          <a:solidFill>
            <a:srgbClr val="002060"/>
          </a:solidFill>
          <a:ln w="12700" cap="flat" cmpd="sng">
            <a:noFill/>
            <a:prstDash val="solid"/>
            <a:round/>
          </a:ln>
        </p:spPr>
      </p:sp>
      <p:sp>
        <p:nvSpPr>
          <p:cNvPr id="18" name="Rectangles"/>
          <p:cNvSpPr/>
          <p:nvPr/>
        </p:nvSpPr>
        <p:spPr>
          <a:xfrm>
            <a:off x="4289685" y="752144"/>
            <a:ext cx="3655102" cy="4533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Assalamu Walaikum</a:t>
            </a:r>
            <a:endParaRPr lang="zh-CN" altLang="en-US"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9" name="Rectangles"/>
          <p:cNvSpPr/>
          <p:nvPr/>
        </p:nvSpPr>
        <p:spPr>
          <a:xfrm>
            <a:off x="2480423" y="1636805"/>
            <a:ext cx="7285220" cy="12915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40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40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Database Management System </a:t>
            </a:r>
            <a:endParaRPr lang="zh-CN" altLang="en-US" sz="40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0" name="Rectangles"/>
          <p:cNvSpPr/>
          <p:nvPr/>
        </p:nvSpPr>
        <p:spPr>
          <a:xfrm>
            <a:off x="2173125" y="2729019"/>
            <a:ext cx="7899817" cy="948689"/>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 Presentation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on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Library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Management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System</a:t>
            </a:r>
            <a:endParaRPr lang="zh-CN" altLang="en-US"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1" name="Rectangles"/>
          <p:cNvSpPr/>
          <p:nvPr/>
        </p:nvSpPr>
        <p:spPr>
          <a:xfrm>
            <a:off x="3342807" y="3777521"/>
            <a:ext cx="4601980" cy="216789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Presented by:</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Mst. Riktah Begum</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Md. Mahabubar Rahman</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Sadia Islam Sharna</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Mst. Mariya Rahman </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曲线"/>
          <p:cNvSpPr/>
          <p:nvPr/>
        </p:nvSpPr>
        <p:spPr>
          <a:xfrm>
            <a:off x="0" y="0"/>
            <a:ext cx="6130977" cy="68580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18735" y="21600"/>
                </a:lnTo>
                <a:lnTo>
                  <a:pt x="18735" y="17822"/>
                </a:lnTo>
                <a:lnTo>
                  <a:pt x="15394" y="17822"/>
                </a:lnTo>
                <a:lnTo>
                  <a:pt x="15394" y="21600"/>
                </a:lnTo>
                <a:lnTo>
                  <a:pt x="0" y="21600"/>
                </a:lnTo>
                <a:close/>
              </a:path>
            </a:pathLst>
          </a:custGeom>
          <a:solidFill>
            <a:srgbClr val="002060"/>
          </a:solidFill>
          <a:ln w="12700" cap="flat" cmpd="sng">
            <a:solidFill>
              <a:srgbClr val="41719C"/>
            </a:solidFill>
            <a:prstDash val="solid"/>
            <a:miter/>
          </a:ln>
        </p:spPr>
      </p:sp>
      <p:sp>
        <p:nvSpPr>
          <p:cNvPr id="23" name="Rectangles"/>
          <p:cNvSpPr/>
          <p:nvPr/>
        </p:nvSpPr>
        <p:spPr>
          <a:xfrm>
            <a:off x="1738859" y="434714"/>
            <a:ext cx="2923082" cy="57721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32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Introduction</a:t>
            </a:r>
            <a:endParaRPr lang="zh-CN" altLang="en-US" sz="32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4" name="Rectangles"/>
          <p:cNvSpPr/>
          <p:nvPr/>
        </p:nvSpPr>
        <p:spPr>
          <a:xfrm>
            <a:off x="314793" y="1484026"/>
            <a:ext cx="4631961" cy="4358640"/>
          </a:xfrm>
          <a:prstGeom prst="rect">
            <a:avLst/>
          </a:prstGeom>
          <a:noFill/>
          <a:ln w="12700" cap="flat" cmpd="sng">
            <a:noFill/>
            <a:prstDash val="solid"/>
            <a:miter/>
          </a:ln>
        </p:spPr>
        <p:txBody>
          <a:bodyPr vert="horz" wrap="square" lIns="91440" tIns="45720" rIns="91440" bIns="45720" anchor="t" anchorCtr="0">
            <a:spAutoFit/>
          </a:bodyPr>
          <a:lstStyle/>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 </a:t>
            </a:r>
            <a:r>
              <a:rPr lang="en-US" altLang="zh-CN" sz="1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Library Management System</a:t>
            </a: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 is a software application designed to manage and organize library operations efficiently.</a:t>
            </a: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It helps in maintaining records of books, students, and transactions such as issuing and returning books.</a:t>
            </a: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This system reduces manual work, minimizes errors, and improves overall productivity of the library.</a:t>
            </a: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It provides quick access to information and ensures better management of library resources.</a:t>
            </a:r>
            <a:endParaRPr lang="zh-CN" altLang="en-US" sz="1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5" name="Rectangles"/>
          <p:cNvSpPr/>
          <p:nvPr/>
        </p:nvSpPr>
        <p:spPr>
          <a:xfrm>
            <a:off x="6790544" y="434714"/>
            <a:ext cx="4527029" cy="57721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Objectives</a:t>
            </a:r>
            <a:endParaRPr lang="zh-CN" altLang="en-US"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6" name="Rectangles"/>
          <p:cNvSpPr/>
          <p:nvPr/>
        </p:nvSpPr>
        <p:spPr>
          <a:xfrm>
            <a:off x="6940446" y="1723869"/>
            <a:ext cx="4197246" cy="1573967"/>
          </a:xfrm>
          <a:prstGeom prst="rect">
            <a:avLst/>
          </a:prstGeom>
          <a:noFill/>
          <a:ln w="12700" cap="flat" cmpd="sng">
            <a:noFill/>
            <a:prstDash val="solid"/>
            <a:miter/>
          </a:ln>
        </p:spPr>
      </p:sp>
      <p:sp>
        <p:nvSpPr>
          <p:cNvPr id="27" name="Rectangles"/>
          <p:cNvSpPr/>
          <p:nvPr/>
        </p:nvSpPr>
        <p:spPr>
          <a:xfrm>
            <a:off x="6445770" y="1018789"/>
            <a:ext cx="5516380" cy="5177790"/>
          </a:xfrm>
          <a:prstGeom prst="rect">
            <a:avLst/>
          </a:prstGeom>
          <a:noFill/>
          <a:ln w="12700" cap="flat" cmpd="sng">
            <a:noFill/>
            <a:prstDash val="solid"/>
            <a:round/>
          </a:ln>
        </p:spPr>
        <p:txBody>
          <a:bodyPr vert="horz" wrap="square" lIns="91440" tIns="45720" rIns="91440" bIns="45720" anchor="ctr" anchorCtr="0">
            <a:spAutoFit/>
          </a:bodyPr>
          <a:lstStyle/>
          <a:p>
            <a:pPr marL="0" indent="0" algn="l" eaLnBrk="0" fontAlgn="base" latinLnBrk="0" hangingPunct="0">
              <a:lnSpc>
                <a:spcPct val="100000"/>
              </a:lnSpc>
              <a:spcBef>
                <a:spcPts val="0"/>
              </a:spcBef>
              <a:spcAft>
                <a:spcPts val="0"/>
              </a:spcAft>
              <a:buNone/>
            </a:pPr>
            <a:endParaRPr lang="en-US" altLang="zh-CN" sz="2400" b="0" i="0" u="none" strike="noStrike" kern="1200" cap="none" spc="0" baseline="0">
              <a:solidFill>
                <a:schemeClr val="tx1"/>
              </a:solidFill>
              <a:latin typeface="Arial" panose="020B0604020202020204" pitchFamily="34" charset="0"/>
              <a:ea typeface="SimSun" panose="02010600030101010101" pitchFamily="2" charset="-122"/>
              <a:cs typeface="Calibri" panose="020F0502020204030204"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develop an efficient </a:t>
            </a:r>
            <a:r>
              <a:rPr lang="en-US" altLang="zh-CN" sz="2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Library Management System</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store and manage book and student information</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automate book issue and return processes</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reduce manual errors and save time</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provide quick and easy access to data</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To improve overall library management system</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29"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30" name="Rounded rectangle"/>
          <p:cNvSpPr/>
          <p:nvPr/>
        </p:nvSpPr>
        <p:spPr>
          <a:xfrm>
            <a:off x="7839855" y="3777520"/>
            <a:ext cx="2248524" cy="1738859"/>
          </a:xfrm>
          <a:prstGeom prst="roundRect">
            <a:avLst>
              <a:gd name="adj" fmla="val 16666"/>
            </a:avLst>
          </a:prstGeom>
          <a:blipFill rotWithShape="1">
            <a:blip r:embed="rId1"/>
            <a:stretch>
              <a:fillRect/>
            </a:stretch>
          </a:blipFill>
          <a:ln w="28575" cap="flat" cmpd="sng">
            <a:solidFill>
              <a:srgbClr val="002060"/>
            </a:solidFill>
            <a:prstDash val="solid"/>
            <a:round/>
          </a:ln>
        </p:spPr>
      </p:sp>
      <p:sp>
        <p:nvSpPr>
          <p:cNvPr id="31" name="Rounded rectangle"/>
          <p:cNvSpPr/>
          <p:nvPr/>
        </p:nvSpPr>
        <p:spPr>
          <a:xfrm>
            <a:off x="5351489" y="929389"/>
            <a:ext cx="2248524" cy="1738859"/>
          </a:xfrm>
          <a:prstGeom prst="roundRect">
            <a:avLst>
              <a:gd name="adj" fmla="val 16666"/>
            </a:avLst>
          </a:prstGeom>
          <a:blipFill rotWithShape="1">
            <a:blip r:embed="rId2"/>
            <a:stretch>
              <a:fillRect/>
            </a:stretch>
          </a:blipFill>
          <a:ln w="28575" cap="flat" cmpd="sng">
            <a:solidFill>
              <a:srgbClr val="002060"/>
            </a:solidFill>
            <a:prstDash val="solid"/>
            <a:round/>
          </a:ln>
        </p:spPr>
      </p:sp>
      <p:sp>
        <p:nvSpPr>
          <p:cNvPr id="32" name="Rectangles"/>
          <p:cNvSpPr/>
          <p:nvPr/>
        </p:nvSpPr>
        <p:spPr>
          <a:xfrm>
            <a:off x="1184223" y="1124261"/>
            <a:ext cx="1948720" cy="577215"/>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32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Features</a:t>
            </a:r>
            <a:endParaRPr lang="zh-CN" altLang="en-US" sz="32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3" name="Rectangles"/>
          <p:cNvSpPr/>
          <p:nvPr/>
        </p:nvSpPr>
        <p:spPr>
          <a:xfrm>
            <a:off x="1184222" y="2023672"/>
            <a:ext cx="4167266" cy="2158365"/>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 Management (Add, Update, Delete books)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 Management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Issue and Return Books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4" name="Rectangles"/>
          <p:cNvSpPr/>
          <p:nvPr/>
        </p:nvSpPr>
        <p:spPr>
          <a:xfrm>
            <a:off x="7839855" y="1124261"/>
            <a:ext cx="3372787" cy="1567815"/>
          </a:xfrm>
          <a:prstGeom prst="rect">
            <a:avLst/>
          </a:prstGeom>
          <a:noFill/>
          <a:ln w="12700" cap="flat" cmpd="sng">
            <a:noFill/>
            <a:prstDash val="solid"/>
            <a:miter/>
          </a:ln>
        </p:spPr>
        <p:txBody>
          <a:bodyPr vert="horz" wrap="square" lIns="91440" tIns="45720" rIns="91440" bIns="45720" anchor="t" anchorCtr="0">
            <a:spAutoFit/>
          </a:bodyPr>
          <a:lstStyle/>
          <a:p>
            <a:pPr marL="285750" indent="-28575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Search Books by title/author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 calculation system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5" name="Rectangles"/>
          <p:cNvSpPr/>
          <p:nvPr/>
        </p:nvSpPr>
        <p:spPr>
          <a:xfrm>
            <a:off x="3417756" y="4270441"/>
            <a:ext cx="4182256" cy="1272539"/>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Report generation </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User authentication (Admin/User) </a:t>
            </a:r>
            <a:endParaRPr lang="zh-CN" altLang="en-US"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45"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46" name="Rectangles"/>
          <p:cNvSpPr/>
          <p:nvPr/>
        </p:nvSpPr>
        <p:spPr>
          <a:xfrm>
            <a:off x="4092314" y="298367"/>
            <a:ext cx="3297836"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rPr>
              <a:t>Schema Diagram</a:t>
            </a:r>
            <a:endParaRPr lang="zh-CN" altLang="en-US" sz="2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47" name="Images"/>
          <p:cNvPicPr>
            <a:picLocks noChangeAspect="1"/>
          </p:cNvPicPr>
          <p:nvPr/>
        </p:nvPicPr>
        <p:blipFill>
          <a:blip r:embed="rId1" cstate="print"/>
          <a:stretch>
            <a:fillRect/>
          </a:stretch>
        </p:blipFill>
        <p:spPr>
          <a:xfrm>
            <a:off x="749509" y="934205"/>
            <a:ext cx="10790418" cy="5345437"/>
          </a:xfrm>
          <a:prstGeom prst="rect">
            <a:avLst/>
          </a:prstGeom>
          <a:noFill/>
          <a:ln w="12700" cap="flat" cmpd="sng">
            <a:noFill/>
            <a:prstDash val="solid"/>
            <a:miter/>
          </a:ln>
        </p:spPr>
      </p:pic>
      <p:sp>
        <p:nvSpPr>
          <p:cNvPr id="48" name="Rectangles"/>
          <p:cNvSpPr/>
          <p:nvPr/>
        </p:nvSpPr>
        <p:spPr>
          <a:xfrm>
            <a:off x="719529" y="6263151"/>
            <a:ext cx="5171606" cy="472440"/>
          </a:xfrm>
          <a:prstGeom prst="rect">
            <a:avLst/>
          </a:prstGeom>
          <a:noFill/>
          <a:ln w="12700" cap="flat" cmpd="sng">
            <a:noFill/>
            <a:prstDash val="solid"/>
            <a:round/>
          </a:ln>
        </p:spPr>
        <p:txBody>
          <a:bodyPr vert="horz" wrap="square" lIns="91440" tIns="45720" rIns="91440" bIns="45720" anchor="ctr" anchorCtr="0">
            <a:spAutoFit/>
          </a:bodyPr>
          <a:lstStyle/>
          <a:p>
            <a:pPr marL="0" indent="0" algn="l" eaLnBrk="0" fontAlgn="ctr" latinLnBrk="0" hangingPunct="0">
              <a:lnSpc>
                <a:spcPct val="100000"/>
              </a:lnSpc>
              <a:spcBef>
                <a:spcPts val="0"/>
              </a:spcBef>
              <a:spcAft>
                <a:spcPts val="0"/>
              </a:spcAft>
              <a:buNone/>
            </a:pPr>
            <a:r>
              <a:rPr lang="en-US" altLang="zh-CN" sz="11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rPr>
              <a:t>System Flow   </a:t>
            </a:r>
            <a:r>
              <a:rPr lang="en-US" altLang="zh-CN" sz="9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rPr>
              <a:t>:</a:t>
            </a:r>
            <a:r>
              <a:rPr lang="en-US" altLang="zh-CN" sz="11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rPr>
              <a:t> Authors → Categories → Books → Members → Borrow → Fines</a:t>
            </a:r>
            <a:r>
              <a:rPr lang="en-US" altLang="zh-CN" sz="1500" b="0" i="0" u="none" strike="noStrike" kern="1200" cap="none" spc="0" baseline="0">
                <a:solidFill>
                  <a:schemeClr val="tx1"/>
                </a:solidFill>
                <a:latin typeface="Arial" panose="020B0604020202020204" pitchFamily="34" charset="0"/>
                <a:ea typeface="SimSun" panose="02010600030101010101" pitchFamily="2" charset="-122"/>
                <a:cs typeface="Calibri" panose="020F0502020204030204" charset="0"/>
              </a:rPr>
              <a:t> </a:t>
            </a:r>
            <a:endParaRPr lang="zh-CN" altLang="en-US" sz="1100" b="0" i="0" u="none" strike="noStrike" kern="1200" cap="none" spc="0" baseline="0">
              <a:solidFill>
                <a:srgbClr val="080809"/>
              </a:solidFill>
              <a:latin typeface="Segoe UI Historic" panose="020B0502040204020203" pitchFamily="34" charset="0"/>
              <a:ea typeface="SimSun" panose="02010600030101010101" pitchFamily="2" charset="-122"/>
              <a:cs typeface="Segoe UI Historic" panose="020B0502040204020203" pitchFamily="34" charset="0"/>
            </a:endParaRPr>
          </a:p>
        </p:txBody>
      </p:sp>
      <p:pic>
        <p:nvPicPr>
          <p:cNvPr id="49" name="Images" descr="✍️"/>
          <p:cNvPicPr>
            <a:picLocks noChangeAspect="1"/>
          </p:cNvPicPr>
          <p:nvPr/>
        </p:nvPicPr>
        <p:blipFill>
          <a:blip r:embed="rId2" cstate="print"/>
          <a:stretch>
            <a:fillRect/>
          </a:stretch>
        </p:blipFill>
        <p:spPr>
          <a:xfrm>
            <a:off x="1594605" y="6450407"/>
            <a:ext cx="152400" cy="152400"/>
          </a:xfrm>
          <a:prstGeom prst="rect">
            <a:avLst/>
          </a:prstGeom>
          <a:noFill/>
          <a:ln w="12700" cap="flat" cmpd="sng">
            <a:noFill/>
            <a:prstDash val="solid"/>
            <a:miter/>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37"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38" name="Rectangles"/>
          <p:cNvSpPr/>
          <p:nvPr/>
        </p:nvSpPr>
        <p:spPr>
          <a:xfrm>
            <a:off x="2413416" y="601041"/>
            <a:ext cx="6925455"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a:t>
            </a: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Schema</a:t>
            </a:r>
            <a:endParaRPr lang="zh-CN" altLang="en-US" sz="2800" b="0" i="0" u="none" strike="noStrike" kern="1200" cap="none" spc="0" baseline="0">
              <a:solidFill>
                <a:srgbClr val="002060"/>
              </a:solidFill>
              <a:latin typeface="Calibri" panose="020F0502020204030204" charset="0"/>
              <a:ea typeface="SimSun" panose="02010600030101010101" pitchFamily="2" charset="-122"/>
              <a:cs typeface="Calibri" panose="020F0502020204030204" charset="0"/>
            </a:endParaRPr>
          </a:p>
        </p:txBody>
      </p:sp>
      <p:sp>
        <p:nvSpPr>
          <p:cNvPr id="39" name="Rectangles"/>
          <p:cNvSpPr/>
          <p:nvPr/>
        </p:nvSpPr>
        <p:spPr>
          <a:xfrm>
            <a:off x="1214203" y="1124262"/>
            <a:ext cx="9638676" cy="489204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1. Authors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author_name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country,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birth_date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bio)</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2. Books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title,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isbn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publisher,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publish_year</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language, pages,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shelf_location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Foreign Keys: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Categories(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Authors(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3. Borrow</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due_date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Foreign Keys: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Members(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457200" lvl="1"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Books(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41"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42" name="Rectangles"/>
          <p:cNvSpPr/>
          <p:nvPr/>
        </p:nvSpPr>
        <p:spPr>
          <a:xfrm>
            <a:off x="3102964" y="419725"/>
            <a:ext cx="4781862"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Schema</a:t>
            </a:r>
            <a:endParaRPr lang="zh-CN" altLang="en-US" sz="2800" b="0" i="0" u="none" strike="noStrike" kern="1200" cap="none" spc="0" baseline="0">
              <a:solidFill>
                <a:srgbClr val="002060"/>
              </a:solidFill>
              <a:latin typeface="Calibri" panose="020F0502020204030204" charset="0"/>
              <a:ea typeface="SimSun" panose="02010600030101010101" pitchFamily="2" charset="-122"/>
              <a:cs typeface="Calibri" panose="020F0502020204030204" charset="0"/>
            </a:endParaRPr>
          </a:p>
        </p:txBody>
      </p:sp>
      <p:sp>
        <p:nvSpPr>
          <p:cNvPr id="43" name="Rectangles"/>
          <p:cNvSpPr/>
          <p:nvPr/>
        </p:nvSpPr>
        <p:spPr>
          <a:xfrm>
            <a:off x="1319134" y="1124261"/>
            <a:ext cx="9713626" cy="435864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4. Categories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category_name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description)</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5. Fines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fine_amount</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paid_status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Foreign Key: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Borrow(</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6. Members</a:t>
            </a:r>
            <a:endParaRPr lang="en-US" altLang="zh-CN" sz="1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full_name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email, phone, address,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membership_date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membership_type</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total_books_borrowed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Primary Key: </a:t>
            </a:r>
            <a:r>
              <a:rPr lang="en-US" altLang="zh-CN" sz="1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A9D18E"/>
          </a:solidFill>
          <a:ln w="12700" cap="flat" cmpd="sng">
            <a:noFill/>
            <a:prstDash val="solid"/>
            <a:round/>
          </a:ln>
        </p:spPr>
      </p:sp>
      <p:sp>
        <p:nvSpPr>
          <p:cNvPr id="54"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A9D18E"/>
          </a:solidFill>
          <a:ln w="12700" cap="flat" cmpd="sng">
            <a:noFill/>
            <a:prstDash val="solid"/>
            <a:round/>
          </a:ln>
        </p:spPr>
      </p:sp>
      <p:sp>
        <p:nvSpPr>
          <p:cNvPr id="55" name="Rectangles"/>
          <p:cNvSpPr/>
          <p:nvPr/>
        </p:nvSpPr>
        <p:spPr>
          <a:xfrm>
            <a:off x="4691922" y="314793"/>
            <a:ext cx="2113613" cy="9486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385723"/>
                </a:solidFill>
                <a:latin typeface="Times New Roman" panose="02020603050405020304" pitchFamily="18" charset="0"/>
                <a:ea typeface="SimSun" panose="02010600030101010101" pitchFamily="2" charset="-122"/>
                <a:cs typeface="Times New Roman" panose="02020603050405020304" pitchFamily="18" charset="0"/>
              </a:rPr>
              <a:t>ER Diagram</a:t>
            </a:r>
            <a:endParaRPr lang="zh-CN" altLang="en-US" sz="2800" b="1" i="0" u="none" strike="noStrike" kern="1200" cap="none" spc="0" baseline="0">
              <a:solidFill>
                <a:srgbClr val="385723"/>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11" name="Images"/>
          <p:cNvPicPr>
            <a:picLocks noChangeAspect="1"/>
          </p:cNvPicPr>
          <p:nvPr/>
        </p:nvPicPr>
        <p:blipFill>
          <a:blip r:embed="rId1" cstate="print"/>
          <a:stretch>
            <a:fillRect/>
          </a:stretch>
        </p:blipFill>
        <p:spPr>
          <a:xfrm>
            <a:off x="1371076" y="1124260"/>
            <a:ext cx="9449661" cy="5496993"/>
          </a:xfrm>
          <a:prstGeom prst="rect">
            <a:avLst/>
          </a:prstGeom>
          <a:noFill/>
          <a:ln w="12700" cap="flat" cmpd="sng">
            <a:noFill/>
            <a:prstDash val="solid"/>
            <a:miter/>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58" name="Rectangles"/>
          <p:cNvSpPr/>
          <p:nvPr/>
        </p:nvSpPr>
        <p:spPr>
          <a:xfrm>
            <a:off x="4122295" y="179882"/>
            <a:ext cx="3327817" cy="9486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zh-CN" altLang="en-US"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59" name="Rectangles"/>
          <p:cNvSpPr/>
          <p:nvPr/>
        </p:nvSpPr>
        <p:spPr>
          <a:xfrm>
            <a:off x="1184224" y="1004341"/>
            <a:ext cx="4891166" cy="4139564"/>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Members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full_name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VARCHAR(100),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email VARCHAR(100) UNIQUE,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phone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address TEXT,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membership_type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total_books_borrowed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DEFAULT 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60" name="Images"/>
          <p:cNvPicPr>
            <a:picLocks noChangeAspect="1"/>
          </p:cNvPicPr>
          <p:nvPr/>
        </p:nvPicPr>
        <p:blipFill>
          <a:blip r:embed="rId1" cstate="print"/>
          <a:stretch>
            <a:fillRect/>
          </a:stretch>
        </p:blipFill>
        <p:spPr>
          <a:xfrm>
            <a:off x="5336499" y="1004341"/>
            <a:ext cx="6855502" cy="5096656"/>
          </a:xfrm>
          <a:prstGeom prst="rect">
            <a:avLst/>
          </a:prstGeom>
          <a:noFill/>
          <a:ln w="12700" cap="flat" cmpd="sng">
            <a:noFill/>
            <a:prstDash val="solid"/>
            <a:miter/>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62" name="Rectangles"/>
          <p:cNvSpPr/>
          <p:nvPr/>
        </p:nvSpPr>
        <p:spPr>
          <a:xfrm>
            <a:off x="3807501" y="254833"/>
            <a:ext cx="3972392" cy="78676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63" name="Rectangles"/>
          <p:cNvSpPr/>
          <p:nvPr/>
        </p:nvSpPr>
        <p:spPr>
          <a:xfrm>
            <a:off x="974360" y="1025072"/>
            <a:ext cx="5666282" cy="4139564"/>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Authors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author_name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VARCHAR(100),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country VARCHAR(50),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birth_date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bio TEXT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Categories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category_name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description TEXT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64" name="Images"/>
          <p:cNvPicPr>
            <a:picLocks noChangeAspect="1"/>
          </p:cNvPicPr>
          <p:nvPr/>
        </p:nvPicPr>
        <p:blipFill>
          <a:blip r:embed="rId1" cstate="print"/>
          <a:stretch>
            <a:fillRect/>
          </a:stretch>
        </p:blipFill>
        <p:spPr>
          <a:xfrm>
            <a:off x="6310859" y="4167265"/>
            <a:ext cx="5881141" cy="2690735"/>
          </a:xfrm>
          <a:prstGeom prst="rect">
            <a:avLst/>
          </a:prstGeom>
          <a:noFill/>
          <a:ln w="12700" cap="flat" cmpd="sng">
            <a:noFill/>
            <a:prstDash val="solid"/>
            <a:miter/>
          </a:ln>
        </p:spPr>
      </p:pic>
      <p:pic>
        <p:nvPicPr>
          <p:cNvPr id="65" name="Images"/>
          <p:cNvPicPr>
            <a:picLocks noChangeAspect="1"/>
          </p:cNvPicPr>
          <p:nvPr/>
        </p:nvPicPr>
        <p:blipFill>
          <a:blip r:embed="rId2" cstate="print"/>
          <a:stretch>
            <a:fillRect/>
          </a:stretch>
        </p:blipFill>
        <p:spPr>
          <a:xfrm>
            <a:off x="6085383" y="1089657"/>
            <a:ext cx="6106617" cy="3043002"/>
          </a:xfrm>
          <a:prstGeom prst="rect">
            <a:avLst/>
          </a:prstGeom>
          <a:noFill/>
          <a:ln w="12700" cap="flat" cmpd="sng">
            <a:noFill/>
            <a:prstDash val="solid"/>
            <a:miter/>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 name="Rectangles"/>
          <p:cNvSpPr/>
          <p:nvPr/>
        </p:nvSpPr>
        <p:spPr>
          <a:xfrm>
            <a:off x="959371" y="1150737"/>
            <a:ext cx="5396459" cy="542544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Books (</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title VARCHAR(150),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isbn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 UNIQUE,</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publisher VARCHAR(100),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publish_year</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YEAR,</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language VARCHAR(50),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pages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total_copies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shelf_location</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VARCHAR(50),</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Categories(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category_id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Authors(</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author_id</a:t>
            </a:r>
            <a:r>
              <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t>);</a:t>
            </a: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67" name="Rectangles"/>
          <p:cNvSpPr/>
          <p:nvPr/>
        </p:nvSpPr>
        <p:spPr>
          <a:xfrm>
            <a:off x="3732551" y="239842"/>
            <a:ext cx="3447738" cy="121539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68"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pic>
        <p:nvPicPr>
          <p:cNvPr id="69" name="Images"/>
          <p:cNvPicPr>
            <a:picLocks noChangeAspect="1"/>
          </p:cNvPicPr>
          <p:nvPr/>
        </p:nvPicPr>
        <p:blipFill>
          <a:blip r:embed="rId1" cstate="print"/>
          <a:stretch>
            <a:fillRect/>
          </a:stretch>
        </p:blipFill>
        <p:spPr>
          <a:xfrm>
            <a:off x="6355830" y="1150737"/>
            <a:ext cx="5836170" cy="5057775"/>
          </a:xfrm>
          <a:prstGeom prst="rect">
            <a:avLst/>
          </a:prstGeom>
          <a:noFill/>
          <a:ln w="12700" cap="flat" cmpd="sng">
            <a:noFill/>
            <a:prstDash val="solid"/>
            <a:miter/>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71" name="Rectangles"/>
          <p:cNvSpPr/>
          <p:nvPr/>
        </p:nvSpPr>
        <p:spPr>
          <a:xfrm>
            <a:off x="3342807" y="194872"/>
            <a:ext cx="4152275" cy="78676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Relational Database</a:t>
            </a:r>
            <a:endParaRPr lang="en-US" altLang="zh-CN" sz="28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72" name="Rectangles"/>
          <p:cNvSpPr/>
          <p:nvPr/>
        </p:nvSpPr>
        <p:spPr>
          <a:xfrm>
            <a:off x="764499" y="875170"/>
            <a:ext cx="6026046" cy="5568314"/>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Borrow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due_date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status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Members(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Books(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CREATE TABLE Fines (</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 PRIMARY KEY AUTO_INCREMENT,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INT,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fine_amount</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DECIMAL(10,2),</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paid_status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VARCHAR(20),</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fine_date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DATE,</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FOREIGN KEY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REFERENCES Borrow(</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73" name="Images"/>
          <p:cNvPicPr>
            <a:picLocks noChangeAspect="1"/>
          </p:cNvPicPr>
          <p:nvPr/>
        </p:nvPicPr>
        <p:blipFill>
          <a:blip r:embed="rId1" cstate="print"/>
          <a:stretch>
            <a:fillRect/>
          </a:stretch>
        </p:blipFill>
        <p:spPr>
          <a:xfrm>
            <a:off x="6205929" y="875170"/>
            <a:ext cx="5986071" cy="3531938"/>
          </a:xfrm>
          <a:prstGeom prst="rect">
            <a:avLst/>
          </a:prstGeom>
          <a:noFill/>
          <a:ln w="12700" cap="flat" cmpd="sng">
            <a:noFill/>
            <a:prstDash val="solid"/>
            <a:miter/>
          </a:ln>
        </p:spPr>
      </p:pic>
      <p:pic>
        <p:nvPicPr>
          <p:cNvPr id="74" name="Images"/>
          <p:cNvPicPr>
            <a:picLocks noChangeAspect="1"/>
          </p:cNvPicPr>
          <p:nvPr/>
        </p:nvPicPr>
        <p:blipFill>
          <a:blip r:embed="rId2" cstate="print"/>
          <a:stretch>
            <a:fillRect/>
          </a:stretch>
        </p:blipFill>
        <p:spPr>
          <a:xfrm>
            <a:off x="6520720" y="4407109"/>
            <a:ext cx="5671279" cy="2450891"/>
          </a:xfrm>
          <a:prstGeom prst="rect">
            <a:avLst/>
          </a:prstGeom>
          <a:noFill/>
          <a:ln w="12700" cap="flat" cmpd="sng">
            <a:noFill/>
            <a:prstDash val="solid"/>
            <a:miter/>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76"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77" name="Rectangles"/>
          <p:cNvSpPr/>
          <p:nvPr/>
        </p:nvSpPr>
        <p:spPr>
          <a:xfrm>
            <a:off x="3447738" y="299803"/>
            <a:ext cx="4946754" cy="815339"/>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Result of Some Features with Query</a:t>
            </a:r>
            <a:endParaRPr lang="zh-CN" altLang="en-US"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78" name="Rectangles"/>
          <p:cNvSpPr/>
          <p:nvPr/>
        </p:nvSpPr>
        <p:spPr>
          <a:xfrm>
            <a:off x="974361" y="1124261"/>
            <a:ext cx="10283252" cy="567689"/>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DISTINCT country</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Authors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79" name="Rectangles"/>
          <p:cNvSpPr/>
          <p:nvPr/>
        </p:nvSpPr>
        <p:spPr>
          <a:xfrm>
            <a:off x="1094283" y="1858780"/>
            <a:ext cx="4579154" cy="1514007"/>
          </a:xfrm>
          <a:prstGeom prst="rect">
            <a:avLst/>
          </a:prstGeom>
          <a:blipFill rotWithShape="1">
            <a:blip r:embed="rId1"/>
            <a:stretch>
              <a:fillRect/>
            </a:stretch>
          </a:blipFill>
          <a:ln w="12700" cap="flat" cmpd="sng">
            <a:noFill/>
            <a:prstDash val="solid"/>
            <a:round/>
          </a:ln>
        </p:spPr>
      </p:sp>
      <p:sp>
        <p:nvSpPr>
          <p:cNvPr id="80" name="Rectangles"/>
          <p:cNvSpPr/>
          <p:nvPr/>
        </p:nvSpPr>
        <p:spPr>
          <a:xfrm>
            <a:off x="1094282" y="3507698"/>
            <a:ext cx="4332157" cy="805815"/>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 FROM Borrow</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due_date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&lt; CURDATE() AND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IS NULL</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81" name="Rectangles"/>
          <p:cNvSpPr/>
          <p:nvPr/>
        </p:nvSpPr>
        <p:spPr>
          <a:xfrm>
            <a:off x="1094281" y="4601980"/>
            <a:ext cx="8797863" cy="1633927"/>
          </a:xfrm>
          <a:prstGeom prst="rect">
            <a:avLst/>
          </a:prstGeom>
          <a:blipFill rotWithShape="1">
            <a:blip r:embed="rId2"/>
            <a:stretch>
              <a:fillRect/>
            </a:stretch>
          </a:blipFill>
          <a:ln w="12700" cap="flat" cmpd="sng">
            <a:noFill/>
            <a:prstDash val="solid"/>
            <a:roun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83"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84" name="Rectangles"/>
          <p:cNvSpPr/>
          <p:nvPr/>
        </p:nvSpPr>
        <p:spPr>
          <a:xfrm>
            <a:off x="3267857" y="104930"/>
            <a:ext cx="4946754" cy="738664"/>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Result of Some Features with Query</a:t>
            </a:r>
            <a:endPar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pic>
        <p:nvPicPr>
          <p:cNvPr id="85" name="Images"/>
          <p:cNvPicPr>
            <a:picLocks noChangeAspect="1"/>
          </p:cNvPicPr>
          <p:nvPr/>
        </p:nvPicPr>
        <p:blipFill>
          <a:blip r:embed="rId1" cstate="print"/>
          <a:stretch>
            <a:fillRect/>
          </a:stretch>
        </p:blipFill>
        <p:spPr>
          <a:xfrm>
            <a:off x="1381827" y="1829853"/>
            <a:ext cx="7629525" cy="1451937"/>
          </a:xfrm>
          <a:prstGeom prst="rect">
            <a:avLst/>
          </a:prstGeom>
          <a:noFill/>
          <a:ln w="12700" cap="flat" cmpd="sng">
            <a:noFill/>
            <a:prstDash val="solid"/>
            <a:miter/>
          </a:ln>
        </p:spPr>
      </p:pic>
      <p:sp>
        <p:nvSpPr>
          <p:cNvPr id="86" name="Rectangles"/>
          <p:cNvSpPr/>
          <p:nvPr/>
        </p:nvSpPr>
        <p:spPr>
          <a:xfrm>
            <a:off x="1244182" y="843594"/>
            <a:ext cx="7270229" cy="83099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UPDATE Borrow</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CURDATE(), status = 'Returned'</a:t>
            </a:r>
            <a:endPar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1</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87" name="Rectangles"/>
          <p:cNvSpPr/>
          <p:nvPr/>
        </p:nvSpPr>
        <p:spPr>
          <a:xfrm>
            <a:off x="1244182" y="3387777"/>
            <a:ext cx="6970429" cy="107721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Books.title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Authors.author_name</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Books</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INNER JOIN Authors</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ON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Books.author_id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Authors.author_id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88" name="Images"/>
          <p:cNvPicPr>
            <a:picLocks noChangeAspect="1"/>
          </p:cNvPicPr>
          <p:nvPr/>
        </p:nvPicPr>
        <p:blipFill>
          <a:blip r:embed="rId2" cstate="print"/>
          <a:stretch>
            <a:fillRect/>
          </a:stretch>
        </p:blipFill>
        <p:spPr>
          <a:xfrm>
            <a:off x="1244181" y="4676931"/>
            <a:ext cx="6970429" cy="1876655"/>
          </a:xfrm>
          <a:prstGeom prst="rect">
            <a:avLst/>
          </a:prstGeom>
          <a:noFill/>
          <a:ln w="12700" cap="flat" cmpd="sng">
            <a:noFill/>
            <a:prstDash val="solid"/>
            <a:miter/>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 name="曲线"/>
          <p:cNvSpPr/>
          <p:nvPr/>
        </p:nvSpPr>
        <p:spPr>
          <a:xfrm>
            <a:off x="0" y="1124261"/>
            <a:ext cx="614596" cy="4392117"/>
          </a:xfrm>
          <a:custGeom>
            <a:avLst/>
            <a:gdLst>
              <a:gd name="T1" fmla="*/ 0 w 21600"/>
              <a:gd name="T2" fmla="*/ 0 h 21600"/>
              <a:gd name="T3" fmla="*/ 21600 w 21600"/>
              <a:gd name="T4" fmla="*/ 21600 h 21600"/>
            </a:gdLst>
            <a:ahLst/>
            <a:cxnLst/>
            <a:rect l="T1" t="T2" r="T3" b="T4"/>
            <a:pathLst>
              <a:path w="21600" h="21600">
                <a:moveTo>
                  <a:pt x="0" y="0"/>
                </a:moveTo>
                <a:lnTo>
                  <a:pt x="14224" y="0"/>
                </a:lnTo>
                <a:cubicBezTo>
                  <a:pt x="18297" y="0"/>
                  <a:pt x="21600" y="462"/>
                  <a:pt x="21600" y="1032"/>
                </a:cubicBezTo>
                <a:lnTo>
                  <a:pt x="21600" y="20567"/>
                </a:lnTo>
                <a:cubicBezTo>
                  <a:pt x="21600" y="21137"/>
                  <a:pt x="18297" y="21599"/>
                  <a:pt x="14224" y="21599"/>
                </a:cubicBezTo>
                <a:lnTo>
                  <a:pt x="0" y="21599"/>
                </a:lnTo>
                <a:close/>
              </a:path>
            </a:pathLst>
          </a:custGeom>
          <a:solidFill>
            <a:srgbClr val="002060"/>
          </a:solidFill>
          <a:ln w="12700" cap="flat" cmpd="sng">
            <a:noFill/>
            <a:prstDash val="solid"/>
            <a:round/>
          </a:ln>
        </p:spPr>
      </p:sp>
      <p:sp>
        <p:nvSpPr>
          <p:cNvPr id="90" name="曲线"/>
          <p:cNvSpPr/>
          <p:nvPr/>
        </p:nvSpPr>
        <p:spPr>
          <a:xfrm>
            <a:off x="11539927" y="1124261"/>
            <a:ext cx="652073" cy="4392117"/>
          </a:xfrm>
          <a:custGeom>
            <a:avLst/>
            <a:gdLst>
              <a:gd name="T1" fmla="*/ 0 w 21600"/>
              <a:gd name="T2" fmla="*/ 0 h 21600"/>
              <a:gd name="T3" fmla="*/ 21600 w 21600"/>
              <a:gd name="T4" fmla="*/ 21600 h 21600"/>
            </a:gdLst>
            <a:ahLst/>
            <a:cxnLst/>
            <a:rect l="T1" t="T2" r="T3" b="T4"/>
            <a:pathLst>
              <a:path w="21600" h="21600">
                <a:moveTo>
                  <a:pt x="6951" y="0"/>
                </a:moveTo>
                <a:lnTo>
                  <a:pt x="21600" y="0"/>
                </a:lnTo>
                <a:lnTo>
                  <a:pt x="21600" y="21599"/>
                </a:lnTo>
                <a:lnTo>
                  <a:pt x="6951" y="21599"/>
                </a:lnTo>
                <a:cubicBezTo>
                  <a:pt x="3112" y="21599"/>
                  <a:pt x="0" y="21137"/>
                  <a:pt x="0" y="20567"/>
                </a:cubicBezTo>
                <a:lnTo>
                  <a:pt x="0" y="1032"/>
                </a:lnTo>
                <a:cubicBezTo>
                  <a:pt x="0" y="462"/>
                  <a:pt x="3112" y="0"/>
                  <a:pt x="6951" y="0"/>
                </a:cubicBezTo>
                <a:close/>
              </a:path>
            </a:pathLst>
          </a:custGeom>
          <a:solidFill>
            <a:srgbClr val="002060"/>
          </a:solidFill>
          <a:ln w="12700" cap="flat" cmpd="sng">
            <a:noFill/>
            <a:prstDash val="solid"/>
            <a:round/>
          </a:ln>
        </p:spPr>
      </p:sp>
      <p:sp>
        <p:nvSpPr>
          <p:cNvPr id="91" name="Rectangles"/>
          <p:cNvSpPr/>
          <p:nvPr/>
        </p:nvSpPr>
        <p:spPr>
          <a:xfrm>
            <a:off x="2953062" y="194872"/>
            <a:ext cx="4946754" cy="738664"/>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rPr>
              <a:t>Result of Some Features with Query</a:t>
            </a:r>
            <a:endParaRPr lang="en-US" altLang="zh-CN" sz="2400" b="1" i="0" u="none" strike="noStrike" kern="1200" cap="none" spc="0" baseline="0">
              <a:solidFill>
                <a:srgbClr val="002060"/>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ctr">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92" name="Rectangles"/>
          <p:cNvSpPr/>
          <p:nvPr/>
        </p:nvSpPr>
        <p:spPr>
          <a:xfrm>
            <a:off x="1169233" y="933536"/>
            <a:ext cx="10103370" cy="83099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title,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Books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available_copies</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&gt; 0</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93" name="Images"/>
          <p:cNvPicPr>
            <a:picLocks noChangeAspect="1"/>
          </p:cNvPicPr>
          <p:nvPr/>
        </p:nvPicPr>
        <p:blipFill>
          <a:blip r:embed="rId1" cstate="print"/>
          <a:stretch>
            <a:fillRect/>
          </a:stretch>
        </p:blipFill>
        <p:spPr>
          <a:xfrm>
            <a:off x="1210768" y="1764533"/>
            <a:ext cx="6689047" cy="1968018"/>
          </a:xfrm>
          <a:prstGeom prst="rect">
            <a:avLst/>
          </a:prstGeom>
          <a:noFill/>
          <a:ln w="12700" cap="flat" cmpd="sng">
            <a:noFill/>
            <a:prstDash val="solid"/>
            <a:miter/>
          </a:ln>
        </p:spPr>
      </p:pic>
      <p:sp>
        <p:nvSpPr>
          <p:cNvPr id="94" name="Rectangles"/>
          <p:cNvSpPr/>
          <p:nvPr/>
        </p:nvSpPr>
        <p:spPr>
          <a:xfrm>
            <a:off x="1169233" y="3882452"/>
            <a:ext cx="5141626" cy="830997"/>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SELECT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member_id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book_id</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borrow_date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FROM Borrow </a:t>
            </a:r>
            <a:br>
              <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WHERE </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return_date</a:t>
            </a:r>
            <a:r>
              <a:rPr lang="en-US" altLang="zh-CN"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IS NULL;</a:t>
            </a:r>
            <a:endParaRPr lang="zh-CN" altLang="en-US" sz="16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95" name="Images"/>
          <p:cNvPicPr>
            <a:picLocks noChangeAspect="1"/>
          </p:cNvPicPr>
          <p:nvPr/>
        </p:nvPicPr>
        <p:blipFill>
          <a:blip r:embed="rId2" cstate="print"/>
          <a:stretch>
            <a:fillRect/>
          </a:stretch>
        </p:blipFill>
        <p:spPr>
          <a:xfrm>
            <a:off x="1210768" y="4713449"/>
            <a:ext cx="5726242" cy="1828418"/>
          </a:xfrm>
          <a:prstGeom prst="rect">
            <a:avLst/>
          </a:prstGeom>
          <a:noFill/>
          <a:ln w="12700" cap="flat" cmpd="sng">
            <a:noFill/>
            <a:prstDash val="solid"/>
            <a:miter/>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 name="曲线"/>
          <p:cNvSpPr/>
          <p:nvPr/>
        </p:nvSpPr>
        <p:spPr>
          <a:xfrm>
            <a:off x="0" y="0"/>
            <a:ext cx="6130977" cy="68580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18735" y="21600"/>
                </a:lnTo>
                <a:lnTo>
                  <a:pt x="18735" y="17822"/>
                </a:lnTo>
                <a:lnTo>
                  <a:pt x="15394" y="17822"/>
                </a:lnTo>
                <a:lnTo>
                  <a:pt x="15394" y="21600"/>
                </a:lnTo>
                <a:lnTo>
                  <a:pt x="0" y="21600"/>
                </a:lnTo>
                <a:close/>
              </a:path>
            </a:pathLst>
          </a:custGeom>
          <a:solidFill>
            <a:srgbClr val="002060"/>
          </a:solidFill>
          <a:ln w="12700" cap="flat" cmpd="sng">
            <a:solidFill>
              <a:srgbClr val="41719C"/>
            </a:solidFill>
            <a:prstDash val="solid"/>
            <a:miter/>
          </a:ln>
        </p:spPr>
      </p:sp>
      <p:sp>
        <p:nvSpPr>
          <p:cNvPr id="97" name="Rectangles"/>
          <p:cNvSpPr/>
          <p:nvPr/>
        </p:nvSpPr>
        <p:spPr>
          <a:xfrm>
            <a:off x="749508" y="179882"/>
            <a:ext cx="4182256"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Advantages of the System</a:t>
            </a:r>
            <a:endParaRPr lang="zh-CN" altLang="en-US"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98" name="Rectangles"/>
          <p:cNvSpPr/>
          <p:nvPr/>
        </p:nvSpPr>
        <p:spPr>
          <a:xfrm>
            <a:off x="449705" y="1244184"/>
            <a:ext cx="5291528" cy="4370426"/>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Efficient Book Management</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Time-Saving Automation</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Accurate Record Keeping</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Easy Search and Retrieval</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Improved Member Management</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Automated Fine Calculation</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Better Data Security and Control</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
        <p:nvSpPr>
          <p:cNvPr id="99" name="Rectangles"/>
          <p:cNvSpPr/>
          <p:nvPr/>
        </p:nvSpPr>
        <p:spPr>
          <a:xfrm>
            <a:off x="8484433" y="179882"/>
            <a:ext cx="1693887" cy="461665"/>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Limitations</a:t>
            </a:r>
            <a:endParaRPr lang="zh-CN" altLang="en-US"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0" name="Rectangles"/>
          <p:cNvSpPr/>
          <p:nvPr/>
        </p:nvSpPr>
        <p:spPr>
          <a:xfrm>
            <a:off x="6520721" y="824459"/>
            <a:ext cx="5306518" cy="4370427"/>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High Initial Setup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Cost</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Requires Technical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Knowledge</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System Failure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Risk</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Data Security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Vulnerabilities</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Dependence on Electricity &amp;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Internet</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Regular Maintenance </a:t>
            </a: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Required</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Limited Flexibility Without Updates</a:t>
            </a:r>
            <a:endParaRPr lang="en-US" altLang="zh-CN" sz="2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1" name="Rectangles"/>
          <p:cNvSpPr/>
          <p:nvPr/>
        </p:nvSpPr>
        <p:spPr>
          <a:xfrm>
            <a:off x="1109272" y="224851"/>
            <a:ext cx="2248525"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Future Work </a:t>
            </a:r>
            <a:endParaRPr lang="zh-CN" altLang="en-US" sz="28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2" name="曲线"/>
          <p:cNvSpPr/>
          <p:nvPr/>
        </p:nvSpPr>
        <p:spPr>
          <a:xfrm>
            <a:off x="0" y="0"/>
            <a:ext cx="6130977" cy="68580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18735" y="21600"/>
                </a:lnTo>
                <a:lnTo>
                  <a:pt x="18735" y="17822"/>
                </a:lnTo>
                <a:lnTo>
                  <a:pt x="15394" y="17822"/>
                </a:lnTo>
                <a:lnTo>
                  <a:pt x="15394" y="21600"/>
                </a:lnTo>
                <a:lnTo>
                  <a:pt x="0" y="21600"/>
                </a:lnTo>
                <a:close/>
              </a:path>
            </a:pathLst>
          </a:custGeom>
          <a:solidFill>
            <a:srgbClr val="002060"/>
          </a:solidFill>
          <a:ln w="12700" cap="flat" cmpd="sng">
            <a:solidFill>
              <a:srgbClr val="41719C"/>
            </a:solidFill>
            <a:prstDash val="solid"/>
            <a:miter/>
          </a:ln>
        </p:spPr>
      </p:sp>
      <p:sp>
        <p:nvSpPr>
          <p:cNvPr id="103" name="Rectangles"/>
          <p:cNvSpPr/>
          <p:nvPr/>
        </p:nvSpPr>
        <p:spPr>
          <a:xfrm>
            <a:off x="1941226" y="395084"/>
            <a:ext cx="2248524" cy="523219"/>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Future Work</a:t>
            </a:r>
            <a:endParaRPr lang="zh-CN" altLang="en-US" sz="2800" b="1"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 name="Rectangles"/>
          <p:cNvSpPr/>
          <p:nvPr/>
        </p:nvSpPr>
        <p:spPr>
          <a:xfrm>
            <a:off x="449705" y="1289154"/>
            <a:ext cx="5336498" cy="2862322"/>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Integration with Mobile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Application</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Online Book Reservation &amp; Renewal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System</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AI-Based Recommendation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System</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Advanced Reporting and Analytics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Dashboard</a:t>
            </a: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endPar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a:lnSpc>
                <a:spcPct val="100000"/>
              </a:lnSpc>
              <a:spcBef>
                <a:spcPts val="0"/>
              </a:spcBef>
              <a:spcAft>
                <a:spcPts val="0"/>
              </a:spcAft>
              <a:buFont typeface="Arial" panose="020B0604020202020204" pitchFamily="34" charset="0"/>
              <a:buChar char="•"/>
            </a:pP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RFID / Barcode Integration for </a:t>
            </a:r>
            <a:r>
              <a:rPr lang="en-US" altLang="zh-CN"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rPr>
              <a:t>Automation</a:t>
            </a:r>
            <a:endParaRPr lang="zh-CN" altLang="en-US" sz="2000" b="0" i="0" u="none" strike="noStrike" kern="1200" cap="none" spc="0" baseline="0">
              <a:solidFill>
                <a:schemeClr val="bg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5" name="Rectangles"/>
          <p:cNvSpPr/>
          <p:nvPr/>
        </p:nvSpPr>
        <p:spPr>
          <a:xfrm>
            <a:off x="8222105" y="224851"/>
            <a:ext cx="2196059" cy="584775"/>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Conclusion</a:t>
            </a:r>
            <a:endParaRPr lang="zh-CN" altLang="en-US"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6" name="Rectangles"/>
          <p:cNvSpPr/>
          <p:nvPr/>
        </p:nvSpPr>
        <p:spPr>
          <a:xfrm>
            <a:off x="6419537" y="1566153"/>
            <a:ext cx="5501391" cy="2585323"/>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The Library Management System is an efficient solution for managing library operations. It automates tasks, reduces errors, and improves overall productivity. With future enhancements, it can become more advanced and user-friendly.</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 name="曲线"/>
          <p:cNvSpPr/>
          <p:nvPr/>
        </p:nvSpPr>
        <p:spPr>
          <a:xfrm>
            <a:off x="0" y="2908091"/>
            <a:ext cx="2683239" cy="1004340"/>
          </a:xfrm>
          <a:custGeom>
            <a:avLst/>
            <a:gdLst>
              <a:gd name="T1" fmla="*/ 0 w 21600"/>
              <a:gd name="T2" fmla="*/ 0 h 21600"/>
              <a:gd name="T3" fmla="*/ 21600 w 21600"/>
              <a:gd name="T4" fmla="*/ 21600 h 21600"/>
            </a:gdLst>
            <a:ahLst/>
            <a:cxnLst/>
            <a:rect l="T1" t="T2" r="T3" b="T4"/>
            <a:pathLst>
              <a:path w="21600" h="21600">
                <a:moveTo>
                  <a:pt x="0" y="0"/>
                </a:moveTo>
                <a:lnTo>
                  <a:pt x="9322" y="0"/>
                </a:lnTo>
                <a:cubicBezTo>
                  <a:pt x="16103" y="0"/>
                  <a:pt x="21600" y="4835"/>
                  <a:pt x="21600" y="10800"/>
                </a:cubicBezTo>
                <a:lnTo>
                  <a:pt x="21599" y="10800"/>
                </a:lnTo>
                <a:cubicBezTo>
                  <a:pt x="21599" y="16764"/>
                  <a:pt x="16103" y="21600"/>
                  <a:pt x="9322" y="21600"/>
                </a:cubicBezTo>
                <a:lnTo>
                  <a:pt x="0" y="21600"/>
                </a:lnTo>
                <a:close/>
              </a:path>
            </a:pathLst>
          </a:custGeom>
          <a:solidFill>
            <a:srgbClr val="002060"/>
          </a:solidFill>
          <a:ln w="12700" cap="flat" cmpd="sng">
            <a:noFill/>
            <a:prstDash val="solid"/>
            <a:round/>
          </a:ln>
        </p:spPr>
      </p:sp>
      <p:sp>
        <p:nvSpPr>
          <p:cNvPr id="108" name="曲线"/>
          <p:cNvSpPr/>
          <p:nvPr/>
        </p:nvSpPr>
        <p:spPr>
          <a:xfrm rot="10800000">
            <a:off x="9508760" y="2878111"/>
            <a:ext cx="2683240" cy="1034320"/>
          </a:xfrm>
          <a:custGeom>
            <a:avLst/>
            <a:gdLst>
              <a:gd name="T1" fmla="*/ 0 w 21600"/>
              <a:gd name="T2" fmla="*/ 0 h 21600"/>
              <a:gd name="T3" fmla="*/ 21600 w 21600"/>
              <a:gd name="T4" fmla="*/ 21600 h 21600"/>
            </a:gdLst>
            <a:ahLst/>
            <a:cxnLst/>
            <a:rect l="T1" t="T2" r="T3" b="T4"/>
            <a:pathLst>
              <a:path w="21600" h="21600">
                <a:moveTo>
                  <a:pt x="0" y="0"/>
                </a:moveTo>
                <a:lnTo>
                  <a:pt x="9322" y="0"/>
                </a:lnTo>
                <a:cubicBezTo>
                  <a:pt x="16103" y="0"/>
                  <a:pt x="21600" y="4835"/>
                  <a:pt x="21600" y="10800"/>
                </a:cubicBezTo>
                <a:lnTo>
                  <a:pt x="21599" y="10800"/>
                </a:lnTo>
                <a:cubicBezTo>
                  <a:pt x="21599" y="16764"/>
                  <a:pt x="16103" y="21600"/>
                  <a:pt x="9322" y="21600"/>
                </a:cubicBezTo>
                <a:lnTo>
                  <a:pt x="0" y="21600"/>
                </a:lnTo>
                <a:close/>
              </a:path>
            </a:pathLst>
          </a:custGeom>
          <a:solidFill>
            <a:srgbClr val="002060"/>
          </a:solidFill>
          <a:ln w="12700" cap="flat" cmpd="sng">
            <a:noFill/>
            <a:prstDash val="solid"/>
            <a:round/>
          </a:ln>
        </p:spPr>
      </p:sp>
      <p:sp>
        <p:nvSpPr>
          <p:cNvPr id="109" name="Rectangles"/>
          <p:cNvSpPr/>
          <p:nvPr/>
        </p:nvSpPr>
        <p:spPr>
          <a:xfrm>
            <a:off x="3270354" y="2619530"/>
            <a:ext cx="5651291" cy="144655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8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rPr>
              <a:t>Thank You </a:t>
            </a:r>
            <a:endParaRPr lang="zh-CN" altLang="en-US" sz="8800" b="1" i="0" u="none" strike="noStrike" kern="1200" cap="none" spc="0" baseline="0">
              <a:solidFill>
                <a:srgbClr val="203864"/>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10" name="Rectangles"/>
          <p:cNvSpPr/>
          <p:nvPr/>
        </p:nvSpPr>
        <p:spPr>
          <a:xfrm>
            <a:off x="4282189" y="4512038"/>
            <a:ext cx="3627620" cy="523220"/>
          </a:xfrm>
          <a:prstGeom prst="rect">
            <a:avLst/>
          </a:prstGeom>
          <a:noFill/>
          <a:ln w="12700" cap="flat" cmpd="sng">
            <a:noFill/>
            <a:prstDash val="solid"/>
            <a:miter/>
          </a:ln>
        </p:spPr>
        <p:txBody>
          <a:bodyPr vert="horz" wrap="square" lIns="91440" tIns="45720" rIns="91440" bIns="45720" anchor="t" anchorCtr="0">
            <a:spAutoFit/>
          </a:bodyPr>
          <a:lstStyle/>
          <a:p>
            <a:pPr marL="0" indent="0" algn="ctr">
              <a:lnSpc>
                <a:spcPct val="100000"/>
              </a:lnSpc>
              <a:spcBef>
                <a:spcPts val="0"/>
              </a:spcBef>
              <a:spcAft>
                <a:spcPts val="0"/>
              </a:spcAft>
              <a:buNone/>
            </a:pPr>
            <a:r>
              <a:rPr lang="en-US" altLang="zh-CN"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Questions &amp; Answers</a:t>
            </a:r>
            <a:endParaRPr lang="zh-CN" altLang="en-US"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0</TotalTime>
  <Words>5130</Words>
  <Application>WPS Presentation</Application>
  <PresentationFormat/>
  <Paragraphs>266</Paragraphs>
  <Slides>17</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Droid Sans</vt:lpstr>
      <vt:lpstr>Siyam Rupali</vt:lpstr>
      <vt:lpstr>Calibri</vt:lpstr>
      <vt:lpstr>Calibri Light</vt:lpstr>
      <vt:lpstr>Times New Roman</vt:lpstr>
      <vt:lpstr>Segoe UI Historic</vt:lpstr>
      <vt:lpstr>Lucida Sans</vt:lpstr>
      <vt:lpstr>Microsoft YaHei</vt:lpstr>
      <vt:lpstr>Arial Unicode MS</vt:lpstr>
      <vt:lpstr>Lucida Sans Unicode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User</cp:lastModifiedBy>
  <cp:revision>65</cp:revision>
  <dcterms:created xsi:type="dcterms:W3CDTF">2026-04-03T09:49:00Z</dcterms:created>
  <dcterms:modified xsi:type="dcterms:W3CDTF">2026-09-15T13:05:00Z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A945A5215E0748A7ADDA538877EE2C05_13</vt:lpwstr>
  </property>
  <property fmtid="{D5CDD505-2E9C-101B-9397-08002B2CF9AE}" pid="3" name="KSOProductBuildVer">
    <vt:lpwstr>1033-12.1.0.28485</vt:lpwstr>
  </property>
</Properties>
</file>